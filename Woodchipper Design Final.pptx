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70" r:id="rId10"/>
    <p:sldId id="268" r:id="rId11"/>
    <p:sldId id="263" r:id="rId12"/>
    <p:sldId id="269" r:id="rId13"/>
    <p:sldId id="266" r:id="rId14"/>
  </p:sldIdLst>
  <p:sldSz cx="12192000" cy="6858000"/>
  <p:notesSz cx="6858000" cy="9144000"/>
  <p:embeddedFontLst>
    <p:embeddedFont>
      <p:font typeface="Fira Code" panose="020B0809050000020004" pitchFamily="49" charset="0"/>
      <p:regular r:id="rId16"/>
      <p:bold r:id="rId17"/>
    </p:embeddedFont>
    <p:embeddedFont>
      <p:font typeface="Oswald" panose="00000500000000000000" pitchFamily="2" charset="0"/>
      <p:regular r:id="rId18"/>
      <p:bold r:id="rId19"/>
    </p:embeddedFont>
    <p:embeddedFont>
      <p:font typeface="Roboto" panose="020000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0A87F13-9D74-41B4-ABA0-F306152F901E}">
  <a:tblStyle styleId="{F0A87F13-9D74-41B4-ABA0-F306152F901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81025" y="1762125"/>
            <a:ext cx="110299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MACHINE ELEMENTS 2 | FINAL PRESENTATION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05276" y="2143125"/>
            <a:ext cx="11581447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WOODCHIPPER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750" b="1" i="0" u="none" strike="noStrike" cap="none">
                <a:solidFill>
                  <a:srgbClr val="2563EB"/>
                </a:solidFill>
                <a:latin typeface="Oswald"/>
                <a:ea typeface="Oswald"/>
                <a:cs typeface="Oswald"/>
                <a:sym typeface="Oswald"/>
              </a:rPr>
              <a:t>DESIGN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143500" y="4143375"/>
            <a:ext cx="1905000" cy="7620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809750" y="4600575"/>
            <a:ext cx="8572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A comprehensive design analysis focusing on structural integrity, power transmission, and ISO standard component selection.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F9BB2E-9E5D-1BC9-4EA1-0D2DB10FA2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6775" y="1724025"/>
            <a:ext cx="5086350" cy="162684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866775" y="3731865"/>
            <a:ext cx="5340667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PRESENTATION STRUCTURE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162050" y="1914525"/>
            <a:ext cx="5030628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Oswald"/>
                <a:ea typeface="Oswald"/>
                <a:cs typeface="Oswald"/>
                <a:sym typeface="Oswald"/>
              </a:rPr>
              <a:t>PROJECT SCOPE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162050" y="2398365"/>
            <a:ext cx="47910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Engineer a robust, mobile woodchipper driven by a </a:t>
            </a:r>
            <a:r>
              <a:rPr lang="en-US" sz="1500" b="1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7.5 kW</a:t>
            </a:r>
            <a:r>
              <a:rPr lang="en-US" sz="1500" b="0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electric motor to process </a:t>
            </a:r>
            <a:r>
              <a:rPr lang="en-US" sz="1500" b="1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50mm</a:t>
            </a:r>
            <a:r>
              <a:rPr lang="en-US" sz="1500" b="0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branch diameter.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104900" y="4177605"/>
            <a:ext cx="48482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Part I:</a:t>
            </a:r>
            <a:r>
              <a:rPr lang="en-US" sz="1500" b="0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Material Selection &amp; Core Assembly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104900" y="4606230"/>
            <a:ext cx="48482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Part II:</a:t>
            </a:r>
            <a:r>
              <a:rPr lang="en-US" sz="1500" b="0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Power Unit Specification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104900" y="5034855"/>
            <a:ext cx="48482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Part III:</a:t>
            </a:r>
            <a:r>
              <a:rPr lang="en-US" sz="1500" b="0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Standard Machine Elements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104900" y="5463480"/>
            <a:ext cx="48482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Part IV:</a:t>
            </a:r>
            <a:r>
              <a:rPr lang="en-US" sz="1500" b="0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Engineering Calculations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104900" y="5892105"/>
            <a:ext cx="48482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Part V:</a:t>
            </a:r>
            <a:r>
              <a:rPr lang="en-US" sz="1500" b="0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System Integration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66775" y="4196655"/>
            <a:ext cx="1428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➤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66775" y="4625280"/>
            <a:ext cx="1428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➤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66775" y="5053905"/>
            <a:ext cx="1428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➤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66775" y="5482530"/>
            <a:ext cx="1428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➤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866775" y="5911155"/>
            <a:ext cx="1428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➤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66775" y="527744"/>
            <a:ext cx="11281410" cy="624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AGENDA &amp; OBJECTIVES</a:t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581025" y="1209675"/>
            <a:ext cx="11029950" cy="381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8" name="Picture 4" descr="TMG 4&quot; Wood Chipper with 7 HP Kohler Gas Engine, 6'' Reversible Blades">
            <a:extLst>
              <a:ext uri="{FF2B5EF4-FFF2-40B4-BE49-F238E27FC236}">
                <a16:creationId xmlns:a16="http://schemas.microsoft.com/office/drawing/2014/main" id="{781D7628-554F-FAEF-9A3E-C77D733F6F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2289" y="1637408"/>
            <a:ext cx="4606230" cy="4606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4B9FD7-69AE-18F2-F207-A98B932C2E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3335000" cy="7991326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438298" y="455340"/>
            <a:ext cx="4653466" cy="710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sng" strike="noStrike" cap="none" dirty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CORE ASSEMBLIES</a:t>
            </a:r>
            <a:endParaRPr sz="4200" u="sng"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438296" y="1100776"/>
            <a:ext cx="370701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Design specifications based on high-inertia loads.</a:t>
            </a:r>
            <a:endParaRPr dirty="0"/>
          </a:p>
        </p:txBody>
      </p:sp>
      <p:sp>
        <p:nvSpPr>
          <p:cNvPr id="122" name="Google Shape;122;p15"/>
          <p:cNvSpPr txBox="1"/>
          <p:nvPr/>
        </p:nvSpPr>
        <p:spPr>
          <a:xfrm>
            <a:off x="438296" y="2086784"/>
            <a:ext cx="3892361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2563EB"/>
                </a:solidFill>
                <a:latin typeface="Oswald"/>
                <a:ea typeface="Oswald"/>
                <a:cs typeface="Oswald"/>
                <a:sym typeface="Oswald"/>
              </a:rPr>
              <a:t>CUTTER ASSEMBLY</a:t>
            </a:r>
            <a:endParaRPr dirty="0"/>
          </a:p>
        </p:txBody>
      </p:sp>
      <p:sp>
        <p:nvSpPr>
          <p:cNvPr id="124" name="Google Shape;124;p15"/>
          <p:cNvSpPr txBox="1"/>
          <p:nvPr/>
        </p:nvSpPr>
        <p:spPr>
          <a:xfrm>
            <a:off x="438297" y="2681588"/>
            <a:ext cx="346888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Disc:</a:t>
            </a:r>
            <a:r>
              <a:rPr lang="en-US" sz="1500" b="0" i="0" u="none" strike="noStrike" cap="none" dirty="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1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Ø400 mm</a:t>
            </a:r>
            <a:r>
              <a:rPr lang="en-US" sz="1500" b="0" i="0" u="none" strike="noStrike" cap="none" dirty="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| </a:t>
            </a:r>
            <a:r>
              <a:rPr lang="en-US" sz="1500" b="1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AISI 4140</a:t>
            </a:r>
            <a:r>
              <a:rPr lang="en-US" sz="1500" b="0" i="0" u="none" strike="noStrike" cap="none" dirty="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. Selected for flywheel effect (Inertia).</a:t>
            </a:r>
            <a:endParaRPr dirty="0"/>
          </a:p>
        </p:txBody>
      </p:sp>
      <p:sp>
        <p:nvSpPr>
          <p:cNvPr id="125" name="Google Shape;125;p15"/>
          <p:cNvSpPr txBox="1"/>
          <p:nvPr/>
        </p:nvSpPr>
        <p:spPr>
          <a:xfrm>
            <a:off x="438297" y="3602282"/>
            <a:ext cx="346888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Main Shaft:</a:t>
            </a:r>
            <a:r>
              <a:rPr lang="en-US" sz="1500" b="0" i="0" u="none" strike="noStrike" cap="none" dirty="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1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Ø35 mm</a:t>
            </a:r>
            <a:r>
              <a:rPr lang="en-US" sz="1500" b="0" i="0" u="none" strike="noStrike" cap="none" dirty="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| </a:t>
            </a:r>
            <a:r>
              <a:rPr lang="en-US" sz="1500" b="1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C45 Steel</a:t>
            </a:r>
            <a:r>
              <a:rPr lang="en-US" sz="1500" b="0" i="0" u="none" strike="noStrike" cap="none" dirty="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. Standard carbon steel for machinability.</a:t>
            </a:r>
            <a:endParaRPr dirty="0"/>
          </a:p>
        </p:txBody>
      </p:sp>
      <p:sp>
        <p:nvSpPr>
          <p:cNvPr id="126" name="Google Shape;126;p15"/>
          <p:cNvSpPr txBox="1"/>
          <p:nvPr/>
        </p:nvSpPr>
        <p:spPr>
          <a:xfrm>
            <a:off x="438297" y="4614225"/>
            <a:ext cx="346888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Knives:</a:t>
            </a:r>
            <a:r>
              <a:rPr lang="en-US" sz="1500" b="0" i="0" u="none" strike="noStrike" cap="none" dirty="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1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D2 Tool Steel</a:t>
            </a:r>
            <a:r>
              <a:rPr lang="en-US" sz="1500" b="0" i="0" u="none" strike="noStrike" cap="none" dirty="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. 58-60 HRC for edge retention.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66C759-467E-DC90-8817-D83E0727FF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8199" y="636037"/>
            <a:ext cx="4435196" cy="29014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E7C059-A168-6F82-4ABA-B73F71C3B8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2855" y="3664823"/>
            <a:ext cx="3789145" cy="29014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19B50E-1D38-CA3D-A64A-F063D42CDE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5799" y="3649391"/>
            <a:ext cx="4280401" cy="2916208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725B72-4DE8-7467-E712-E206FC3DCE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 txBox="1">
            <a:spLocks noGrp="1"/>
          </p:cNvSpPr>
          <p:nvPr>
            <p:ph type="title"/>
          </p:nvPr>
        </p:nvSpPr>
        <p:spPr>
          <a:xfrm>
            <a:off x="457200" y="917850"/>
            <a:ext cx="7445141" cy="35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2563EB"/>
                </a:solidFill>
                <a:latin typeface="Oswald"/>
                <a:ea typeface="Oswald"/>
                <a:cs typeface="Oswald"/>
                <a:sym typeface="Oswald"/>
              </a:rPr>
              <a:t>STRUCTURAL FRAME</a:t>
            </a:r>
            <a:endParaRPr lang="en-US" dirty="0"/>
          </a:p>
        </p:txBody>
      </p:sp>
      <p:sp>
        <p:nvSpPr>
          <p:cNvPr id="127" name="Google Shape;127;p15"/>
          <p:cNvSpPr txBox="1">
            <a:spLocks noGrp="1"/>
          </p:cNvSpPr>
          <p:nvPr>
            <p:ph type="body" idx="1"/>
          </p:nvPr>
        </p:nvSpPr>
        <p:spPr>
          <a:xfrm>
            <a:off x="457200" y="1817827"/>
            <a:ext cx="5038344" cy="1454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Feeder:</a:t>
            </a:r>
            <a:r>
              <a:rPr lang="en-US" sz="1500" b="0" i="0" u="none" strike="noStrike" cap="none" dirty="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1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Alu 6061-T6</a:t>
            </a:r>
            <a:r>
              <a:rPr lang="en-US" sz="1500" b="0" i="0" u="none" strike="noStrike" cap="none" dirty="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. Lightweight intake.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500" b="1" dirty="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Chassis:</a:t>
            </a:r>
            <a:r>
              <a:rPr lang="en-US" sz="1500" dirty="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ASTM A36</a:t>
            </a:r>
            <a:r>
              <a:rPr lang="en-US" sz="1500" dirty="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. Weldable structural steel.</a:t>
            </a:r>
            <a:endParaRPr lang="en-US" sz="15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B6CA54-9190-ADD9-6628-2D38A6E83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543" y="487072"/>
            <a:ext cx="4754881" cy="29419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6BEA34-F7C7-4141-22FA-EE8BE4272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85929"/>
            <a:ext cx="6451597" cy="2941928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EE3DB49-7A3C-2A58-0E9D-E903130AC3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120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6524625" y="1993106"/>
            <a:ext cx="5340667" cy="377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SEVA-TEC MX3-132S2-2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524625" y="2560736"/>
            <a:ext cx="50863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This high-efficiency IE3 motor serves as the primary driver.</a:t>
            </a:r>
            <a:endParaRPr/>
          </a:p>
        </p:txBody>
      </p:sp>
      <p:graphicFrame>
        <p:nvGraphicFramePr>
          <p:cNvPr id="143" name="Google Shape;143;p16"/>
          <p:cNvGraphicFramePr/>
          <p:nvPr/>
        </p:nvGraphicFramePr>
        <p:xfrm>
          <a:off x="6524625" y="3132236"/>
          <a:ext cx="5067300" cy="2928900"/>
        </p:xfrm>
        <a:graphic>
          <a:graphicData uri="http://schemas.openxmlformats.org/drawingml/2006/table">
            <a:tbl>
              <a:tblPr firstRow="1" bandRow="1">
                <a:noFill/>
                <a:tableStyleId>{F0A87F13-9D74-41B4-ABA0-F306152F901E}</a:tableStyleId>
              </a:tblPr>
              <a:tblGrid>
                <a:gridCol w="2520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Parameter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Specification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F293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Rated Power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0" b="1" i="0" u="none" strike="noStrike" cap="none">
                          <a:solidFill>
                            <a:srgbClr val="000000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7.50 kW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E7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F293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Speed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0" b="1" i="0" u="none" strike="noStrike" cap="none">
                          <a:solidFill>
                            <a:srgbClr val="000000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2920 RPM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E7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F293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Weight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0" b="1" i="0" u="none" strike="noStrike" cap="none">
                          <a:solidFill>
                            <a:srgbClr val="000000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53.8 kg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E7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F293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Mounting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80" b="1" i="0" u="none" strike="noStrike" cap="none">
                          <a:solidFill>
                            <a:srgbClr val="000000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IM B5 (Flange)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E7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4" name="Google Shape;144;p16"/>
          <p:cNvSpPr/>
          <p:nvPr/>
        </p:nvSpPr>
        <p:spPr>
          <a:xfrm>
            <a:off x="6534150" y="4294286"/>
            <a:ext cx="2520701" cy="9525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6534150" y="4875311"/>
            <a:ext cx="2520701" cy="9525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6534150" y="5456336"/>
            <a:ext cx="2520701" cy="9525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6534150" y="6042124"/>
            <a:ext cx="2520701" cy="9525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866775" y="581025"/>
            <a:ext cx="11281410" cy="624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POWER UNIT SPECIFICATION</a:t>
            </a:r>
            <a:endParaRPr dirty="0"/>
          </a:p>
        </p:txBody>
      </p:sp>
      <p:sp>
        <p:nvSpPr>
          <p:cNvPr id="149" name="Google Shape;149;p16"/>
          <p:cNvSpPr/>
          <p:nvPr/>
        </p:nvSpPr>
        <p:spPr>
          <a:xfrm>
            <a:off x="581025" y="1262955"/>
            <a:ext cx="11029950" cy="381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FC82F9-E2E2-BA21-A05E-D2841E2F46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0856" y="2120206"/>
            <a:ext cx="3978188" cy="371668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3D739-5509-9B56-4D52-5C21050F61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815" y="-5060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6775" y="2132558"/>
            <a:ext cx="5086350" cy="162684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1162050" y="2323058"/>
            <a:ext cx="5030628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Oswald"/>
                <a:ea typeface="Oswald"/>
                <a:cs typeface="Oswald"/>
                <a:sym typeface="Oswald"/>
              </a:rPr>
              <a:t>DESIGN CONSTRAINTS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1162050" y="2806898"/>
            <a:ext cx="47910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Manufacturer datasheets imposed specific geometric constraints on the drivetrain.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1104900" y="4045148"/>
            <a:ext cx="48482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Shaft Diameter: </a:t>
            </a:r>
            <a:r>
              <a:rPr lang="en-US" sz="15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38 mm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Dictated the use of a 38mm Taper Lock Bushing.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1104900" y="4854773"/>
            <a:ext cx="4848225" cy="57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Mounting Holes: </a:t>
            </a:r>
            <a:r>
              <a:rPr lang="en-US" sz="1500" b="1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15 mm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dirty="0">
                <a:solidFill>
                  <a:srgbClr val="1F2937"/>
                </a:solidFill>
                <a:latin typeface="Roboto"/>
                <a:ea typeface="Roboto"/>
                <a:cs typeface="Calibri"/>
                <a:sym typeface="Roboto"/>
              </a:rPr>
              <a:t>S</a:t>
            </a:r>
            <a:r>
              <a:rPr lang="en-US" sz="1500" b="0" i="0" u="none" strike="noStrike" cap="none" dirty="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election of M15 fasteners (Fine Pitch).</a:t>
            </a:r>
            <a:endParaRPr dirty="0"/>
          </a:p>
        </p:txBody>
      </p:sp>
      <p:sp>
        <p:nvSpPr>
          <p:cNvPr id="162" name="Google Shape;162;p17"/>
          <p:cNvSpPr txBox="1"/>
          <p:nvPr/>
        </p:nvSpPr>
        <p:spPr>
          <a:xfrm>
            <a:off x="866775" y="4064198"/>
            <a:ext cx="1428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➤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866775" y="4873823"/>
            <a:ext cx="1428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➤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866775" y="581025"/>
            <a:ext cx="11281410" cy="624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INTERFACE DIMENSIONS</a:t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581025" y="1262955"/>
            <a:ext cx="11029950" cy="381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86D30D-E030-6373-703D-B7D0ADB6A1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7433" y="3479603"/>
            <a:ext cx="5922583" cy="268521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5E13E-56B0-72E9-85A9-F153139C77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6524625" y="1918245"/>
            <a:ext cx="5340667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Oswald"/>
                <a:ea typeface="Oswald"/>
                <a:cs typeface="Oswald"/>
                <a:sym typeface="Oswald"/>
              </a:rPr>
              <a:t>UCF 207 FLANGE UNIT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6524625" y="2402085"/>
            <a:ext cx="50863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Standard ISO 4-bolt flange units were selected to support the </a:t>
            </a:r>
            <a:r>
              <a:rPr lang="en-US" sz="1500" b="1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Ø35mm</a:t>
            </a:r>
            <a:r>
              <a:rPr lang="en-US" sz="1500" b="0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main shaft.</a:t>
            </a:r>
            <a:endParaRPr/>
          </a:p>
        </p:txBody>
      </p:sp>
      <p:graphicFrame>
        <p:nvGraphicFramePr>
          <p:cNvPr id="175" name="Google Shape;175;p18"/>
          <p:cNvGraphicFramePr/>
          <p:nvPr/>
        </p:nvGraphicFramePr>
        <p:xfrm>
          <a:off x="6524625" y="3211710"/>
          <a:ext cx="5067300" cy="2924125"/>
        </p:xfrm>
        <a:graphic>
          <a:graphicData uri="http://schemas.openxmlformats.org/drawingml/2006/table">
            <a:tbl>
              <a:tblPr firstRow="1" bandRow="1">
                <a:noFill/>
                <a:tableStyleId>{F0A87F13-9D74-41B4-ABA0-F306152F901E}</a:tableStyleId>
              </a:tblPr>
              <a:tblGrid>
                <a:gridCol w="180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9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Spec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Value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F293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Standard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F293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ISO 3228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F293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Bore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F293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35 mm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F293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Housing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F293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Cast Iron (HT200)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F293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Feature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F293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Self-Aligning Insert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6" name="Google Shape;176;p18"/>
          <p:cNvSpPr/>
          <p:nvPr/>
        </p:nvSpPr>
        <p:spPr>
          <a:xfrm>
            <a:off x="6534150" y="4368998"/>
            <a:ext cx="1807368" cy="9525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8341518" y="4368998"/>
            <a:ext cx="3259931" cy="9525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6534150" y="4950023"/>
            <a:ext cx="1807368" cy="9525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8341518" y="4950023"/>
            <a:ext cx="3259931" cy="9525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6534150" y="5531048"/>
            <a:ext cx="1807368" cy="9525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8341518" y="5531048"/>
            <a:ext cx="3259931" cy="9525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6534150" y="6116835"/>
            <a:ext cx="1807368" cy="9525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8341518" y="6116835"/>
            <a:ext cx="3259931" cy="9525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866775" y="581025"/>
            <a:ext cx="11281410" cy="624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ROTOR SUPPORT</a:t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581025" y="1262955"/>
            <a:ext cx="11029950" cy="381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72274D-F875-81D3-2518-0B4C3D49F8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815" y="2153787"/>
            <a:ext cx="3879995" cy="375623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E1C13D-5003-A814-4685-D3C810EB7B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866775" y="2327820"/>
            <a:ext cx="5340667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Oswald"/>
                <a:ea typeface="Oswald"/>
                <a:cs typeface="Oswald"/>
                <a:sym typeface="Oswald"/>
              </a:rPr>
              <a:t>V-BELT DRIVE (ISO 4184)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866775" y="2811660"/>
            <a:ext cx="50863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A multi-belt drive system designed for shock absorption and torque transfer.</a:t>
            </a:r>
            <a:endParaRPr dirty="0"/>
          </a:p>
        </p:txBody>
      </p:sp>
      <p:sp>
        <p:nvSpPr>
          <p:cNvPr id="196" name="Google Shape;196;p19"/>
          <p:cNvSpPr txBox="1"/>
          <p:nvPr/>
        </p:nvSpPr>
        <p:spPr>
          <a:xfrm>
            <a:off x="1104900" y="3621285"/>
            <a:ext cx="48482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Belt Profile:</a:t>
            </a:r>
            <a:r>
              <a:rPr lang="en-US" sz="1500" b="0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SPZ Section</a:t>
            </a:r>
            <a:r>
              <a:rPr lang="en-US" sz="1500" b="0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(Metric Wedge)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1104900" y="4049910"/>
            <a:ext cx="48482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Configuration:</a:t>
            </a:r>
            <a:r>
              <a:rPr lang="en-US" sz="1500" b="0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3 Parallel Belts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1104900" y="4478535"/>
            <a:ext cx="48482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Pulleys:</a:t>
            </a:r>
            <a:r>
              <a:rPr lang="en-US" sz="1500" b="0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ISO 4183 Deep Groove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1104900" y="4907160"/>
            <a:ext cx="48482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Tensioner:</a:t>
            </a:r>
            <a:r>
              <a:rPr lang="en-US" sz="1500" b="0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Manual Slotted Bracket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866775" y="3640335"/>
            <a:ext cx="1428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➤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866775" y="4068960"/>
            <a:ext cx="1428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➤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866775" y="4497585"/>
            <a:ext cx="1428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➤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866775" y="4926210"/>
            <a:ext cx="1428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➤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866775" y="581025"/>
            <a:ext cx="11281410" cy="624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POWER TRANSMISSION</a:t>
            </a:r>
            <a:endParaRPr dirty="0"/>
          </a:p>
        </p:txBody>
      </p:sp>
      <p:sp>
        <p:nvSpPr>
          <p:cNvPr id="205" name="Google Shape;205;p19"/>
          <p:cNvSpPr/>
          <p:nvPr/>
        </p:nvSpPr>
        <p:spPr>
          <a:xfrm>
            <a:off x="581025" y="1262955"/>
            <a:ext cx="11029950" cy="381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F93099-02A6-2F58-4953-575EAEF8CE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7442" y="2072453"/>
            <a:ext cx="5259813" cy="366916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33B1F5-98D0-71E7-EE59-CC3E9DEB1F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BB1B9-D5AD-2F5D-3022-B76D70404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200" b="1" u="sng" dirty="0">
                <a:latin typeface="Oswald" panose="00000500000000000000" pitchFamily="2" charset="0"/>
              </a:rPr>
              <a:t>TENSIONER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3EC2FB-D747-B9D3-0EF8-3EC1B4832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7278624" cy="795528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Manually Adjustable Pivoting Idler Tensioner</a:t>
            </a:r>
          </a:p>
          <a:p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Consisting of tensioner arm, tensioner pulley and a pivot bolt.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DE2E51-17DE-4082-7EF0-21063130B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892" y="2951263"/>
            <a:ext cx="4745254" cy="34809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756D90-AEA9-4DE6-1CBA-04E0D3939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4891" y="3003082"/>
            <a:ext cx="6137115" cy="3429149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E0B79AA-B9B1-424D-3EC7-4A3F02C1B3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053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466C3-F650-9394-2DC0-E335CDAE8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200" b="1" u="sng" dirty="0">
                <a:latin typeface="Oswald" panose="00000500000000000000" pitchFamily="2" charset="0"/>
              </a:rPr>
              <a:t>MOBILITY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39DCF7-CA3A-22B3-6E6A-43844CA584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300mm pair of wheels and handle bars were used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467994-DC8C-0BA2-0DB9-D0D2C3941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0190" y="1154667"/>
            <a:ext cx="3706052" cy="36079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1E84ED-944C-8F19-4BA0-55CCDED4A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4149" y="2675761"/>
            <a:ext cx="4101768" cy="390760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9C20CAB-52EF-0EBE-5C67-69610916AF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61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6524625" y="2232570"/>
            <a:ext cx="5340667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Oswald"/>
                <a:ea typeface="Oswald"/>
                <a:cs typeface="Oswald"/>
                <a:sym typeface="Oswald"/>
              </a:rPr>
              <a:t>NON-STANDARD SOLUTIONS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6524625" y="2716410"/>
            <a:ext cx="50863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Fine pitch high-tensile fasteners were required to match component constraints.</a:t>
            </a:r>
            <a:endParaRPr/>
          </a:p>
        </p:txBody>
      </p:sp>
      <p:graphicFrame>
        <p:nvGraphicFramePr>
          <p:cNvPr id="215" name="Google Shape;215;p20"/>
          <p:cNvGraphicFramePr/>
          <p:nvPr/>
        </p:nvGraphicFramePr>
        <p:xfrm>
          <a:off x="6524625" y="3478410"/>
          <a:ext cx="5067275" cy="2343125"/>
        </p:xfrm>
        <a:graphic>
          <a:graphicData uri="http://schemas.openxmlformats.org/drawingml/2006/table">
            <a:tbl>
              <a:tblPr firstRow="1" bandRow="1">
                <a:noFill/>
                <a:tableStyleId>{F0A87F13-9D74-41B4-ABA0-F306152F901E}</a:tableStyleId>
              </a:tblPr>
              <a:tblGrid>
                <a:gridCol w="16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9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5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Application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ISO Std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Designation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F293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Motor Mount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F293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ISO 8676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F293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M15 x 1.5</a:t>
                      </a:r>
                      <a:r>
                        <a:rPr lang="en-US" sz="1500" b="0" i="0" u="none" strike="noStrike" cap="none">
                          <a:solidFill>
                            <a:srgbClr val="1F293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(10.9)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F293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Tensioner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F293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ISO 8676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F293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M11 x 1.0</a:t>
                      </a:r>
                      <a:r>
                        <a:rPr lang="en-US" sz="1500" b="0" i="0" u="none" strike="noStrike" cap="none">
                          <a:solidFill>
                            <a:srgbClr val="1F293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(10.9)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F293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Locking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F293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ISO 10512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F293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Nyloc Nut (10)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6" name="Google Shape;216;p20"/>
          <p:cNvSpPr/>
          <p:nvPr/>
        </p:nvSpPr>
        <p:spPr>
          <a:xfrm>
            <a:off x="6534150" y="4635698"/>
            <a:ext cx="1662410" cy="9525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8196560" y="4635698"/>
            <a:ext cx="1389161" cy="9525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9585721" y="4635698"/>
            <a:ext cx="2015728" cy="9525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6534150" y="5216723"/>
            <a:ext cx="1662410" cy="9525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8196560" y="5216723"/>
            <a:ext cx="1389161" cy="9525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9585721" y="5216723"/>
            <a:ext cx="2015728" cy="9525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6534150" y="5802510"/>
            <a:ext cx="1662410" cy="9525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8196560" y="5802510"/>
            <a:ext cx="1389161" cy="9525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9585721" y="5802510"/>
            <a:ext cx="2015728" cy="9525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866775" y="581025"/>
            <a:ext cx="11281410" cy="624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FASTENER SELECTION</a:t>
            </a:r>
            <a:endParaRPr/>
          </a:p>
        </p:txBody>
      </p:sp>
      <p:sp>
        <p:nvSpPr>
          <p:cNvPr id="226" name="Google Shape;226;p20"/>
          <p:cNvSpPr/>
          <p:nvPr/>
        </p:nvSpPr>
        <p:spPr>
          <a:xfrm>
            <a:off x="581025" y="1262955"/>
            <a:ext cx="11029950" cy="381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24D782-42A3-14E5-4211-9C0F2BEEEB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512" y="2069913"/>
            <a:ext cx="5197087" cy="401922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7E8DFF-5BBD-9A9B-8D8F-9DC9F75707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B2D832-32A8-0819-ED70-3305B1A01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361" y="989362"/>
            <a:ext cx="7547278" cy="56949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FD280A-693C-08D8-6E7C-E3696B2A1EB9}"/>
              </a:ext>
            </a:extLst>
          </p:cNvPr>
          <p:cNvSpPr txBox="1"/>
          <p:nvPr/>
        </p:nvSpPr>
        <p:spPr>
          <a:xfrm>
            <a:off x="356616" y="173736"/>
            <a:ext cx="50749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b="1" u="sng" dirty="0">
                <a:latin typeface="Oswald" panose="00000500000000000000" pitchFamily="2" charset="0"/>
              </a:rPr>
              <a:t>FINAL ASSEMBLY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7D3E1-653B-7150-24BA-CC3B28C90C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897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3"/>
          <p:cNvSpPr txBox="1"/>
          <p:nvPr/>
        </p:nvSpPr>
        <p:spPr>
          <a:xfrm>
            <a:off x="-751713" y="4310062"/>
            <a:ext cx="107442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Thank you for your attention</a:t>
            </a:r>
            <a:r>
              <a:rPr lang="en-US" sz="1800" b="0" i="0" u="none" strike="noStrike" cap="none" dirty="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366B19-BD06-2D06-693B-A19FF38B9B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421</Words>
  <Application>Microsoft Office PowerPoint</Application>
  <PresentationFormat>Widescreen</PresentationFormat>
  <Paragraphs>105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Calibri</vt:lpstr>
      <vt:lpstr>Arial</vt:lpstr>
      <vt:lpstr>Roboto</vt:lpstr>
      <vt:lpstr>Oswald</vt:lpstr>
      <vt:lpstr>Fira Code</vt:lpstr>
      <vt:lpstr>Office Theme</vt:lpstr>
      <vt:lpstr>PowerPoint Presentation</vt:lpstr>
      <vt:lpstr>PowerPoint Presentation</vt:lpstr>
      <vt:lpstr>PowerPoint Presentation</vt:lpstr>
      <vt:lpstr>STRUCTURAL FRAME</vt:lpstr>
      <vt:lpstr>PowerPoint Presentation</vt:lpstr>
      <vt:lpstr>PowerPoint Presentation</vt:lpstr>
      <vt:lpstr>PowerPoint Presentation</vt:lpstr>
      <vt:lpstr>PowerPoint Presentation</vt:lpstr>
      <vt:lpstr>TENSIONER</vt:lpstr>
      <vt:lpstr>MOBILITY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Gaurawa Kovida</dc:creator>
  <cp:lastModifiedBy>Gaurawa Kovida</cp:lastModifiedBy>
  <cp:revision>3</cp:revision>
  <dcterms:modified xsi:type="dcterms:W3CDTF">2025-12-01T06:42:15Z</dcterms:modified>
</cp:coreProperties>
</file>